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4076a6fed14cdb" /><Relationship Type="http://schemas.openxmlformats.org/officeDocument/2006/relationships/extended-properties" Target="/docProps/app.xml" Id="R7a54c9f54a144b7d" /><Relationship Type="http://schemas.openxmlformats.org/officeDocument/2006/relationships/officeDocument" Target="/ppt/presentation.xml" Id="R20123c82f94248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feb35d2a5c4d12"/>
  </p:sldMasterIdLst>
  <p:notesMasterIdLst>
    <p:notesMasterId xmlns:r="http://schemas.openxmlformats.org/officeDocument/2006/relationships" r:id="R41651994668c449b"/>
  </p:notesMasterIdLst>
  <p:sldIdLst>
    <p:sldId xmlns:r="http://schemas.openxmlformats.org/officeDocument/2006/relationships" id="256" r:id="R3f28f54f1cf54adf"/>
    <p:sldId xmlns:r="http://schemas.openxmlformats.org/officeDocument/2006/relationships" id="257" r:id="Rbd68525a632b4e5e"/>
    <p:sldId xmlns:r="http://schemas.openxmlformats.org/officeDocument/2006/relationships" id="258" r:id="R445d13e95fce4afe"/>
    <p:sldId xmlns:r="http://schemas.openxmlformats.org/officeDocument/2006/relationships" id="259" r:id="R05909a1017754636"/>
    <p:sldId xmlns:r="http://schemas.openxmlformats.org/officeDocument/2006/relationships" id="260" r:id="R40c279ae1e1b44ef"/>
    <p:sldId xmlns:r="http://schemas.openxmlformats.org/officeDocument/2006/relationships" id="261" r:id="R79242273ab5c4353"/>
    <p:sldId xmlns:r="http://schemas.openxmlformats.org/officeDocument/2006/relationships" id="262" r:id="Rbe9b409db5504db3"/>
    <p:sldId xmlns:r="http://schemas.openxmlformats.org/officeDocument/2006/relationships" id="263" r:id="R0d40eb66bc044db0"/>
    <p:sldId xmlns:r="http://schemas.openxmlformats.org/officeDocument/2006/relationships" id="264" r:id="R0c06a95122a84f67"/>
    <p:sldId xmlns:r="http://schemas.openxmlformats.org/officeDocument/2006/relationships" id="265" r:id="R215f0c332fe84087"/>
    <p:sldId xmlns:r="http://schemas.openxmlformats.org/officeDocument/2006/relationships" id="266" r:id="R13121dedcb4743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b0df241b11460f" /><Relationship Type="http://schemas.openxmlformats.org/officeDocument/2006/relationships/slideMaster" Target="/ppt/slideMasters/slideMaster1.xml" Id="R18feb35d2a5c4d12" /><Relationship Type="http://schemas.openxmlformats.org/officeDocument/2006/relationships/notesMaster" Target="/ppt/notesMasters/notesMaster1.xml" Id="R41651994668c449b" /><Relationship Type="http://schemas.openxmlformats.org/officeDocument/2006/relationships/presProps" Target="/ppt/presProps.xml" Id="R66617974c006456f" /><Relationship Type="http://schemas.openxmlformats.org/officeDocument/2006/relationships/tableStyles" Target="/ppt/tableStyles.xml" Id="R6b01345a07f64790" /><Relationship Type="http://schemas.openxmlformats.org/officeDocument/2006/relationships/slide" Target="/ppt/slides/slide1.xml" Id="R3f28f54f1cf54adf" /><Relationship Type="http://schemas.openxmlformats.org/officeDocument/2006/relationships/slide" Target="/ppt/slides/slide2.xml" Id="Rbd68525a632b4e5e" /><Relationship Type="http://schemas.openxmlformats.org/officeDocument/2006/relationships/slide" Target="/ppt/slides/slide3.xml" Id="R445d13e95fce4afe" /><Relationship Type="http://schemas.openxmlformats.org/officeDocument/2006/relationships/slide" Target="/ppt/slides/slide4.xml" Id="R05909a1017754636" /><Relationship Type="http://schemas.openxmlformats.org/officeDocument/2006/relationships/slide" Target="/ppt/slides/slide5.xml" Id="R40c279ae1e1b44ef" /><Relationship Type="http://schemas.openxmlformats.org/officeDocument/2006/relationships/slide" Target="/ppt/slides/slide6.xml" Id="R79242273ab5c4353" /><Relationship Type="http://schemas.openxmlformats.org/officeDocument/2006/relationships/slide" Target="/ppt/slides/slide7.xml" Id="Rbe9b409db5504db3" /><Relationship Type="http://schemas.openxmlformats.org/officeDocument/2006/relationships/slide" Target="/ppt/slides/slide8.xml" Id="R0d40eb66bc044db0" /><Relationship Type="http://schemas.openxmlformats.org/officeDocument/2006/relationships/slide" Target="/ppt/slides/slide9.xml" Id="R0c06a95122a84f67" /><Relationship Type="http://schemas.openxmlformats.org/officeDocument/2006/relationships/slide" Target="/ppt/slides/slide10.xml" Id="R215f0c332fe84087" /><Relationship Type="http://schemas.openxmlformats.org/officeDocument/2006/relationships/slide" Target="/ppt/slides/slide11.xml" Id="R13121dedcb4743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8746e01e8a4c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58a7ac20aa42d5" /><Relationship Type="http://schemas.openxmlformats.org/officeDocument/2006/relationships/notesMaster" Target="/ppt/notesMasters/notesMaster1.xml" Id="R9b1ed3a4f8b94e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ee43fb3f754cda" /><Relationship Type="http://schemas.openxmlformats.org/officeDocument/2006/relationships/notesMaster" Target="/ppt/notesMasters/notesMaster1.xml" Id="R5abcdb773c4e45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72607f2aa145f1" /><Relationship Type="http://schemas.openxmlformats.org/officeDocument/2006/relationships/notesMaster" Target="/ppt/notesMasters/notesMaster1.xml" Id="R05e2c34a7ea742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f16b4c2b4cb4bcb" /><Relationship Type="http://schemas.openxmlformats.org/officeDocument/2006/relationships/notesMaster" Target="/ppt/notesMasters/notesMaster1.xml" Id="Rb975504aa7d448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7d1390fe7244fc" /><Relationship Type="http://schemas.openxmlformats.org/officeDocument/2006/relationships/notesMaster" Target="/ppt/notesMasters/notesMaster1.xml" Id="Re73ab1e271db450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59b5cceefa4f50" /><Relationship Type="http://schemas.openxmlformats.org/officeDocument/2006/relationships/notesMaster" Target="/ppt/notesMasters/notesMaster1.xml" Id="R483f399c273943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1067d0ff9f4a09" /><Relationship Type="http://schemas.openxmlformats.org/officeDocument/2006/relationships/notesMaster" Target="/ppt/notesMasters/notesMaster1.xml" Id="Rf5ee6368c6e4448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6e591ff5f1b4174" /><Relationship Type="http://schemas.openxmlformats.org/officeDocument/2006/relationships/notesMaster" Target="/ppt/notesMasters/notesMaster1.xml" Id="R8bf6ce1ed9a34fb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1358137e29044de" /><Relationship Type="http://schemas.openxmlformats.org/officeDocument/2006/relationships/notesMaster" Target="/ppt/notesMasters/notesMaster1.xml" Id="R9698f3a2444a444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0210e2fe1e24b4e" /><Relationship Type="http://schemas.openxmlformats.org/officeDocument/2006/relationships/notesMaster" Target="/ppt/notesMasters/notesMaster1.xml" Id="R9787d9cafca6452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0438401fe994ba0" /><Relationship Type="http://schemas.openxmlformats.org/officeDocument/2006/relationships/notesMaster" Target="/ppt/notesMasters/notesMaster1.xml" Id="R941d5aa506cc48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项目题目文件：C:/Users/seele/Desktop/6.（海云捷迅）2026年第二届重庆市AI大模型创新应用大赛企业出题.docx</a:t>
            </a:r>
          </a:p>
          <a:p xmlns:a="http://schemas.openxmlformats.org/drawingml/2006/main">
            <a:r>
              <a:t>GPT-SoVITS 官方说明：https://github.com/RVC-Boss/GPT-SoVITS/blob/main/docs/cn/README.md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项目题目文件：C:/Users/seele/Desktop/6.（海云捷迅）2026年第二届重庆市AI大模型创新应用大赛企业出题.docx</a:t>
            </a:r>
          </a:p>
          <a:p xmlns:a="http://schemas.openxmlformats.org/drawingml/2006/main">
            <a:r>
              <a:t>GPT-SoVITS 官方说明：https://github.com/RVC-Boss/GPT-SoVITS/blob/main/docs/cn/README.md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项目题目文件：C:/Users/seele/Desktop/6.（海云捷迅）2026年第二届重庆市AI大模型创新应用大赛企业出题.docx</a:t>
            </a:r>
          </a:p>
          <a:p xmlns:a="http://schemas.openxmlformats.org/drawingml/2006/main">
            <a:r>
              <a:t>GPT-SoVITS 官方说明：https://github.com/RVC-Boss/GPT-SoVITS/blob/main/docs/cn/README.md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项目题目文件：C:/Users/seele/Desktop/6.（海云捷迅）2026年第二届重庆市AI大模型创新应用大赛企业出题.docx</a:t>
            </a:r>
          </a:p>
          <a:p xmlns:a="http://schemas.openxmlformats.org/drawingml/2006/main">
            <a:r>
              <a:t>GPT-SoVITS 官方说明：https://github.com/RVC-Boss/GPT-SoVITS/blob/main/docs/cn/README.md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项目题目文件：C:/Users/seele/Desktop/6.（海云捷迅）2026年第二届重庆市AI大模型创新应用大赛企业出题.docx</a:t>
            </a:r>
          </a:p>
          <a:p xmlns:a="http://schemas.openxmlformats.org/drawingml/2006/main">
            <a:r>
              <a:t>GPT-SoVITS 官方说明：https://github.com/RVC-Boss/GPT-SoVITS/blob/main/docs/cn/README.md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项目题目文件：C:/Users/seele/Desktop/6.（海云捷迅）2026年第二届重庆市AI大模型创新应用大赛企业出题.docx</a:t>
            </a:r>
          </a:p>
          <a:p xmlns:a="http://schemas.openxmlformats.org/drawingml/2006/main">
            <a:r>
              <a:t>GPT-SoVITS 官方说明：https://github.com/RVC-Boss/GPT-SoVITS/blob/main/docs/cn/README.md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项目题目文件：C:/Users/seele/Desktop/6.（海云捷迅）2026年第二届重庆市AI大模型创新应用大赛企业出题.docx</a:t>
            </a:r>
          </a:p>
          <a:p xmlns:a="http://schemas.openxmlformats.org/drawingml/2006/main">
            <a:r>
              <a:t>GPT-SoVITS 官方说明：https://github.com/RVC-Boss/GPT-SoVITS/blob/main/docs/cn/README.md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项目题目文件：C:/Users/seele/Desktop/6.（海云捷迅）2026年第二届重庆市AI大模型创新应用大赛企业出题.docx</a:t>
            </a:r>
          </a:p>
          <a:p xmlns:a="http://schemas.openxmlformats.org/drawingml/2006/main">
            <a:r>
              <a:t>GPT-SoVITS 官方说明：https://github.com/RVC-Boss/GPT-SoVITS/blob/main/docs/cn/README.md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项目题目文件：C:/Users/seele/Desktop/6.（海云捷迅）2026年第二届重庆市AI大模型创新应用大赛企业出题.docx</a:t>
            </a:r>
          </a:p>
          <a:p xmlns:a="http://schemas.openxmlformats.org/drawingml/2006/main">
            <a:r>
              <a:t>GPT-SoVITS 官方说明：https://github.com/RVC-Boss/GPT-SoVITS/blob/main/docs/cn/README.md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项目题目文件：C:/Users/seele/Desktop/6.（海云捷迅）2026年第二届重庆市AI大模型创新应用大赛企业出题.docx</a:t>
            </a:r>
          </a:p>
          <a:p xmlns:a="http://schemas.openxmlformats.org/drawingml/2006/main">
            <a:r>
              <a:t>GPT-SoVITS 官方说明：https://github.com/RVC-Boss/GPT-SoVITS/blob/main/docs/cn/README.md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项目题目文件：C:/Users/seele/Desktop/6.（海云捷迅）2026年第二届重庆市AI大模型创新应用大赛企业出题.docx</a:t>
            </a:r>
          </a:p>
          <a:p xmlns:a="http://schemas.openxmlformats.org/drawingml/2006/main">
            <a:r>
              <a:t>GPT-SoVITS 官方说明：https://github.com/RVC-Boss/GPT-SoVITS/blob/main/docs/cn/README.md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a67d188a964c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d0135f01944ed9" /><Relationship Type="http://schemas.openxmlformats.org/officeDocument/2006/relationships/slideLayout" Target="/ppt/slideLayouts/slideLayout1.xml" Id="Re10b2b3a5dcc45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0b2b3a5dcc45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e26dc6dab34995" /><Relationship Type="http://schemas.openxmlformats.org/officeDocument/2006/relationships/notesSlide" Target="/ppt/notesSlides/notesSlide1.xml" Id="Rcb312cee047f45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f1579325384478" /><Relationship Type="http://schemas.openxmlformats.org/officeDocument/2006/relationships/notesSlide" Target="/ppt/notesSlides/notesSlide2.xml" Id="Rc2c8019397ea49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b5624344de4d2f" /><Relationship Type="http://schemas.openxmlformats.org/officeDocument/2006/relationships/notesSlide" Target="/ppt/notesSlides/notesSlide3.xml" Id="R55825226645749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9f08d2cdc443fa" /><Relationship Type="http://schemas.openxmlformats.org/officeDocument/2006/relationships/notesSlide" Target="/ppt/notesSlides/notesSlide4.xml" Id="R14cb520aa6154a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cedf0d47fa4a9a" /><Relationship Type="http://schemas.openxmlformats.org/officeDocument/2006/relationships/notesSlide" Target="/ppt/notesSlides/notesSlide5.xml" Id="Rd1c356f6604d4c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54df034df743bc" /><Relationship Type="http://schemas.openxmlformats.org/officeDocument/2006/relationships/notesSlide" Target="/ppt/notesSlides/notesSlide6.xml" Id="R205d1ed370dc466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8d416c1f346b6" /><Relationship Type="http://schemas.openxmlformats.org/officeDocument/2006/relationships/notesSlide" Target="/ppt/notesSlides/notesSlide7.xml" Id="Rf0b190bfbf2649e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ae3ebcaa2b422d" /><Relationship Type="http://schemas.openxmlformats.org/officeDocument/2006/relationships/notesSlide" Target="/ppt/notesSlides/notesSlide8.xml" Id="Re826185462ec425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736f40bc9e4414" /><Relationship Type="http://schemas.openxmlformats.org/officeDocument/2006/relationships/notesSlide" Target="/ppt/notesSlides/notesSlide9.xml" Id="R78e4556c1e01436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dbfe82a9fa4349" /><Relationship Type="http://schemas.openxmlformats.org/officeDocument/2006/relationships/notesSlide" Target="/ppt/notesSlides/notesSlide10.xml" Id="R3bb8ca418a364a6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5d1587d4bb40dc" /><Relationship Type="http://schemas.openxmlformats.org/officeDocument/2006/relationships/notesSlide" Target="/ppt/notesSlides/notesSlide11.xml" Id="Re29a1858012a468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64E416-0CA1-4A6A-ACA4-157F1145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F3F3F"/>
                </a:solidFill>
                <a:latin typeface="SimSun"/>
                <a:ea typeface="SimSun"/>
                <a:cs typeface="SimSun"/>
              </a:defRPr>
            </a:pPr>
            <a:r>
              <a:rPr sz="1050" b="1">
                <a:solidFill>
                  <a:srgbClr val="3F3F3F"/>
                </a:solidFill>
                <a:latin typeface="SimSun"/>
                <a:ea typeface="SimSun"/>
                <a:cs typeface="SimSun"/>
              </a:rPr>
              <a:t>重庆市 AI 大模型创新应用大赛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5D3BB1-BF29-42A9-9C05-B3FA6DF8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435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汽车直播智能体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2B48B9-257A-4552-9B2A-B9229363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2882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62626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262626"/>
                </a:solidFill>
                <a:latin typeface="SimSun"/>
                <a:ea typeface="SimSun"/>
                <a:cs typeface="SimSun"/>
              </a:rPr>
              <a:t>可溯源问答 · 流式播报 · 动态改稿 · 拟人化音色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7B0C6-37F8-44A8-9FA3-33D30196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62250"/>
            <a:ext cx="24765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6262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25A1DA-E13B-4C79-8514-9955F3DF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把汽车资料、直播脚本和语音输出放进同一条可验证链路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40B58C-8F4E-45AF-A56A-2E31E8F8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066800"/>
            <a:ext cx="2857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E76CA7-A549-4D37-AC81-80E1F5F28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428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F3F3F"/>
                </a:solidFill>
                <a:latin typeface="SimSun"/>
                <a:ea typeface="SimSun"/>
                <a:cs typeface="SimSun"/>
              </a:defRPr>
            </a:pPr>
            <a:r>
              <a:rPr sz="1125" b="1">
                <a:solidFill>
                  <a:srgbClr val="3F3F3F"/>
                </a:solidFill>
                <a:latin typeface="SimSun"/>
                <a:ea typeface="SimSun"/>
                <a:cs typeface="SimSun"/>
              </a:rPr>
              <a:t>题目验收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EAB21D-62DD-4263-9393-9E5D800B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621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62626"/>
                </a:solidFill>
                <a:latin typeface="SimSun"/>
                <a:ea typeface="SimSun"/>
                <a:cs typeface="SimSun"/>
              </a:defRPr>
            </a:pPr>
            <a:r>
              <a:rPr sz="3150" b="1">
                <a:solidFill>
                  <a:srgbClr val="262626"/>
                </a:solidFill>
                <a:latin typeface="SimSun"/>
                <a:ea typeface="SimSun"/>
                <a:cs typeface="SimSun"/>
              </a:rPr>
              <a:t>40/40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EEFD7-8AC3-4F79-AECB-C6AC8CAA6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71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200" b="0">
                <a:solidFill>
                  <a:srgbClr val="191919"/>
                </a:solidFill>
                <a:latin typeface="SimSun"/>
                <a:ea typeface="SimSun"/>
                <a:cs typeface="SimSun"/>
              </a:rPr>
              <a:t>检索准确率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BE2439-DD3E-4A05-B43E-AFE00947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813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62626"/>
                </a:solidFill>
                <a:latin typeface="SimSun"/>
                <a:ea typeface="SimSun"/>
                <a:cs typeface="SimSun"/>
              </a:defRPr>
            </a:pPr>
            <a:r>
              <a:rPr sz="2250" b="1">
                <a:solidFill>
                  <a:srgbClr val="262626"/>
                </a:solidFill>
                <a:latin typeface="SimSun"/>
                <a:ea typeface="SimSun"/>
                <a:cs typeface="SimSun"/>
              </a:rPr>
              <a:t>2323 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A1A7A0-4607-4882-9E74-8A631AE8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385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200" b="0">
                <a:solidFill>
                  <a:srgbClr val="191919"/>
                </a:solidFill>
                <a:latin typeface="SimSun"/>
                <a:ea typeface="SimSun"/>
                <a:cs typeface="SimSun"/>
              </a:rPr>
              <a:t>平均首音频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BE62B2-8D70-4553-AF85-16555F9C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A7480"/>
                </a:solidFill>
                <a:latin typeface="SimSun"/>
                <a:ea typeface="SimSun"/>
                <a:cs typeface="SimSun"/>
              </a:defRPr>
            </a:pPr>
            <a:r>
              <a:rPr sz="825" b="0">
                <a:solidFill>
                  <a:srgbClr val="6A7480"/>
                </a:solidFill>
                <a:latin typeface="SimSun"/>
                <a:ea typeface="SimSun"/>
                <a:cs typeface="SimSun"/>
              </a:rPr>
              <a:t>汽车直播智能体  ·  2026 重庆 AI 大模型创新应用大赛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F04031-A3F4-4490-BEE6-0A0AB327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A7480"/>
                </a:solidFill>
                <a:latin typeface="SimSun"/>
                <a:ea typeface="SimSun"/>
                <a:cs typeface="SimSun"/>
              </a:defRPr>
            </a:pPr>
            <a:r>
              <a:rPr sz="825" b="0">
                <a:solidFill>
                  <a:srgbClr val="6A7480"/>
                </a:solidFill>
                <a:latin typeface="SimSun"/>
                <a:ea typeface="SimSun"/>
                <a:cs typeface="SimSun"/>
              </a:rPr>
              <a:t>1/11</a:t>
            </a:r>
          </a:p>
        </p:txBody>
      </p:sp>
    </p:spTree>
    <p:extLst>
      <p:ext uri="{BB962C8B-B14F-4D97-AF65-F5344CB8AC3E}">
        <p14:creationId xmlns:p14="http://schemas.microsoft.com/office/powerpoint/2010/main" val="8325485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3BDAE0-8AB0-4880-9B22-3D3EEEACD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F3F3F"/>
                </a:solidFill>
                <a:latin typeface="SimSun"/>
                <a:ea typeface="SimSun"/>
                <a:cs typeface="SimSun"/>
              </a:defRPr>
            </a:pPr>
            <a:r>
              <a:rPr sz="900" b="1">
                <a:solidFill>
                  <a:srgbClr val="3F3F3F"/>
                </a:solidFill>
                <a:latin typeface="SimSun"/>
                <a:ea typeface="SimSun"/>
                <a:cs typeface="SimSun"/>
              </a:rPr>
              <a:t>01 / 场景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8C6B68-A6A4-41B3-95E0-9222758A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270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直播现场需要的是“可继续工作”的智能体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434638-E3FD-43A1-86BA-1CD0E879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275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答案要有出处，声音要不中断，稿子要能随时改。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0FD2B9-2647-435A-9047-926F982F2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350D81-A9BD-4758-BEFB-FC68E39A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A7480"/>
                </a:solidFill>
                <a:latin typeface="SimSun"/>
                <a:ea typeface="SimSun"/>
                <a:cs typeface="SimSun"/>
              </a:defRPr>
            </a:pPr>
            <a:r>
              <a:rPr sz="825" b="0">
                <a:solidFill>
                  <a:srgbClr val="6A7480"/>
                </a:solidFill>
                <a:latin typeface="SimSun"/>
                <a:ea typeface="SimSun"/>
                <a:cs typeface="SimSun"/>
              </a:rPr>
              <a:t>汽车直播智能体  ·  2026 重庆 AI 大模型创新应用大赛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512452-6AB6-40F6-BC4F-504F15FD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A7480"/>
                </a:solidFill>
                <a:latin typeface="SimSun"/>
                <a:ea typeface="SimSun"/>
                <a:cs typeface="SimSun"/>
              </a:defRPr>
            </a:pPr>
            <a:r>
              <a:rPr sz="825" b="0">
                <a:solidFill>
                  <a:srgbClr val="6A7480"/>
                </a:solidFill>
                <a:latin typeface="SimSun"/>
                <a:ea typeface="SimSun"/>
                <a:cs typeface="SimSun"/>
              </a:rPr>
              <a:t>2/11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DB40A3-ECFB-452A-9168-E297C66C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31432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E1DD81-E9DF-44C1-BE6F-A5AA66AE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资料散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5F7428-C7A5-47B2-A0DF-5A53EA1F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90875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425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PDF、Word、TXT 并存</a:t>
            </a:r>
          </a:p>
          <a:p xmlns:a="http://schemas.openxmlformats.org/drawingml/2006/main">
            <a:pPr algn="l">
              <a:defRPr sz="1425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425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字段命名和版本不统一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B11D39-A1AA-4068-A33B-BFA316CC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86000"/>
            <a:ext cx="31432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4B01CD-EE37-4844-8D90-231EF29B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6670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播报断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6B5793-225C-442C-8F1D-12B4D401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190875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425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传统整段生成</a:t>
            </a:r>
          </a:p>
          <a:p xmlns:a="http://schemas.openxmlformats.org/drawingml/2006/main">
            <a:pPr algn="l">
              <a:defRPr sz="1425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425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首句等待，改稿要重来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67A333-3B2B-4019-91A1-71809755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86000"/>
            <a:ext cx="31432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07E175-D6B3-448A-9048-B4D508EDC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670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证据弱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90359E-E35F-4134-9662-8CAC1A19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90875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425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只给答案不说来源</a:t>
            </a:r>
          </a:p>
          <a:p xmlns:a="http://schemas.openxmlformats.org/drawingml/2006/main">
            <a:pPr algn="l">
              <a:defRPr sz="1425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425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主播无法快速核对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D1F1A2-8A75-4A16-84FC-4BAF6FC9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62626"/>
                </a:solidFill>
                <a:latin typeface="SimSun"/>
                <a:ea typeface="SimSun"/>
                <a:cs typeface="SimSun"/>
              </a:defRPr>
            </a:pPr>
            <a:r>
              <a:rPr sz="1800" b="1">
                <a:solidFill>
                  <a:srgbClr val="262626"/>
                </a:solidFill>
                <a:latin typeface="SimSun"/>
                <a:ea typeface="SimSun"/>
                <a:cs typeface="SimSun"/>
              </a:rPr>
              <a:t>我们的切入点：把“证据、节奏、版本”设计成一等数据</a:t>
            </a:r>
          </a:p>
        </p:txBody>
      </p:sp>
    </p:spTree>
    <p:extLst>
      <p:ext uri="{BB962C8B-B14F-4D97-AF65-F5344CB8AC3E}">
        <p14:creationId xmlns:p14="http://schemas.microsoft.com/office/powerpoint/2010/main" val="7910276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BF0257-1AB5-471D-8C8A-5FFFEAAA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F3F3F"/>
                </a:solidFill>
                <a:latin typeface="SimSun"/>
                <a:ea typeface="SimSun"/>
                <a:cs typeface="SimSun"/>
              </a:defRPr>
            </a:pPr>
            <a:r>
              <a:rPr sz="900" b="1">
                <a:solidFill>
                  <a:srgbClr val="3F3F3F"/>
                </a:solidFill>
                <a:latin typeface="SimSun"/>
                <a:ea typeface="SimSun"/>
                <a:cs typeface="SimSun"/>
              </a:rPr>
              <a:t>02 / 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2E7768-7E00-4A70-98D2-0339F6DA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270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一条链路覆盖从资料到声音的五个动作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8E706E-07DA-419C-BF93-E69CC3CC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275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模块边界清晰，现场可以逐段演示，也可以替换单个服务。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D866D6-C4B2-45B8-A553-D43184A8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31FC14-7CD9-407F-8093-05C1E9A3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A7480"/>
                </a:solidFill>
                <a:latin typeface="SimSun"/>
                <a:ea typeface="SimSun"/>
                <a:cs typeface="SimSun"/>
              </a:defRPr>
            </a:pPr>
            <a:r>
              <a:rPr sz="825" b="0">
                <a:solidFill>
                  <a:srgbClr val="6A7480"/>
                </a:solidFill>
                <a:latin typeface="SimSun"/>
                <a:ea typeface="SimSun"/>
                <a:cs typeface="SimSun"/>
              </a:rPr>
              <a:t>汽车直播智能体  ·  2026 重庆 AI 大模型创新应用大赛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059137-08A2-412A-8B9B-2A3D386B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A7480"/>
                </a:solidFill>
                <a:latin typeface="SimSun"/>
                <a:ea typeface="SimSun"/>
                <a:cs typeface="SimSun"/>
              </a:defRPr>
            </a:pPr>
            <a:r>
              <a:rPr sz="825" b="0">
                <a:solidFill>
                  <a:srgbClr val="6A7480"/>
                </a:solidFill>
                <a:latin typeface="SimSun"/>
                <a:ea typeface="SimSun"/>
                <a:cs typeface="SimSun"/>
              </a:rPr>
              <a:t>3/11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29DB92-90E5-42FB-B0BE-3B662597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171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675848-5347-4A9B-BD54-9559AC6B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F3F3F"/>
                </a:solidFill>
                <a:latin typeface="SimSun"/>
                <a:ea typeface="SimSun"/>
                <a:cs typeface="SimSun"/>
              </a:defRPr>
            </a:pPr>
            <a:r>
              <a:rPr sz="1200" b="1">
                <a:solidFill>
                  <a:srgbClr val="3F3F3F"/>
                </a:solidFill>
                <a:latin typeface="SimSun"/>
                <a:ea typeface="SimSun"/>
                <a:cs typeface="SimSun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861DE8-C48E-48E6-B5DF-E489F6F3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3375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425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导入资料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671D5D-07C7-4C13-AE58-EF9577E5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86125"/>
            <a:ext cx="4953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2EFB18-46CF-462A-8F15-83CC42C4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62250"/>
            <a:ext cx="171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3B50D7-9AE2-43D8-8CEB-145EB2DA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527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F3F3F"/>
                </a:solidFill>
                <a:latin typeface="SimSun"/>
                <a:ea typeface="SimSun"/>
                <a:cs typeface="SimSun"/>
              </a:defRPr>
            </a:pPr>
            <a:r>
              <a:rPr sz="1200" b="1">
                <a:solidFill>
                  <a:srgbClr val="3F3F3F"/>
                </a:solidFill>
                <a:latin typeface="SimSun"/>
                <a:ea typeface="SimSun"/>
                <a:cs typeface="SimSun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67E0D1-9C45-49B9-88EA-E2D2D8F0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3375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425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检索问答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08D83D-3BAB-41BA-81B4-9DDAF10E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86125"/>
            <a:ext cx="4953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950D69-3EEE-42DA-B006-4E19E631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62250"/>
            <a:ext cx="171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1AEF4F-5AFD-4144-86DD-E91B2FB8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9527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F3F3F"/>
                </a:solidFill>
                <a:latin typeface="SimSun"/>
                <a:ea typeface="SimSun"/>
                <a:cs typeface="SimSun"/>
              </a:defRPr>
            </a:pPr>
            <a:r>
              <a:rPr sz="1200" b="1">
                <a:solidFill>
                  <a:srgbClr val="3F3F3F"/>
                </a:solidFill>
                <a:latin typeface="SimSun"/>
                <a:ea typeface="SimSun"/>
                <a:cs typeface="SimSun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59D360-C8E5-4D22-9F50-BCDB1C59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33375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425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生成脚本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325D55-AF2D-4A32-A93E-BFABB220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86125"/>
            <a:ext cx="4953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F02F6C-186A-419A-9C00-5B6F974D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762250"/>
            <a:ext cx="171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5B3B64-931F-4DBA-9D6C-A3C6D2F5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527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F3F3F"/>
                </a:solidFill>
                <a:latin typeface="SimSun"/>
                <a:ea typeface="SimSun"/>
                <a:cs typeface="SimSun"/>
              </a:defRPr>
            </a:pPr>
            <a:r>
              <a:rPr sz="1200" b="1">
                <a:solidFill>
                  <a:srgbClr val="3F3F3F"/>
                </a:solidFill>
                <a:latin typeface="SimSun"/>
                <a:ea typeface="SimSun"/>
                <a:cs typeface="SimSun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D73838-6BCC-4543-A49C-848098C1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33375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425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流式播报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8AB2A2-C4DF-43F0-885F-8F6B9E56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86125"/>
            <a:ext cx="4953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37ECFE-A3F5-4655-AC70-5DD185F8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62250"/>
            <a:ext cx="171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240375-65E3-42A1-9F2C-EEC180A2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9527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F3F3F"/>
                </a:solidFill>
                <a:latin typeface="SimSun"/>
                <a:ea typeface="SimSun"/>
                <a:cs typeface="SimSun"/>
              </a:defRPr>
            </a:pPr>
            <a:r>
              <a:rPr sz="1200" b="1">
                <a:solidFill>
                  <a:srgbClr val="3F3F3F"/>
                </a:solidFill>
                <a:latin typeface="SimSun"/>
                <a:ea typeface="SimSun"/>
                <a:cs typeface="SimSun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83B2A1-05BD-4390-A05E-FE026E8F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33375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425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动态改稿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BE5A9E-C259-4C22-B824-E6E3148E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每一步都有可观测状态：版本、来源、首包、队列和安全句</a:t>
            </a:r>
          </a:p>
        </p:txBody>
      </p:sp>
    </p:spTree>
    <p:extLst>
      <p:ext uri="{BB962C8B-B14F-4D97-AF65-F5344CB8AC3E}">
        <p14:creationId xmlns:p14="http://schemas.microsoft.com/office/powerpoint/2010/main" val="10051999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E6B22E-561D-4359-85DC-7D7EEF77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F3F3F"/>
                </a:solidFill>
                <a:latin typeface="SimSun"/>
                <a:ea typeface="SimSun"/>
                <a:cs typeface="SimSun"/>
              </a:defRPr>
            </a:pPr>
            <a:r>
              <a:rPr sz="900" b="1">
                <a:solidFill>
                  <a:srgbClr val="3F3F3F"/>
                </a:solidFill>
                <a:latin typeface="SimSun"/>
                <a:ea typeface="SimSun"/>
                <a:cs typeface="SimSun"/>
              </a:rPr>
              <a:t>03 / 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FEC02A-7ED9-43D9-BCBD-B8421808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270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本地优先，模型与业务通过接口解耦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E84FF7-903D-43D9-A0CF-3104A2AD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275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浏览器负责体验，FastAPI 负责编排，SQLite 负责追踪，GPT-SoVITS 负责声音。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245FEC-2D24-4EC4-8560-CFEB715AB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0B287D-BACB-42B1-BCCC-E4924099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A7480"/>
                </a:solidFill>
                <a:latin typeface="SimSun"/>
                <a:ea typeface="SimSun"/>
                <a:cs typeface="SimSun"/>
              </a:defRPr>
            </a:pPr>
            <a:r>
              <a:rPr sz="825" b="0">
                <a:solidFill>
                  <a:srgbClr val="6A7480"/>
                </a:solidFill>
                <a:latin typeface="SimSun"/>
                <a:ea typeface="SimSun"/>
                <a:cs typeface="SimSun"/>
              </a:rPr>
              <a:t>汽车直播智能体  ·  2026 重庆 AI 大模型创新应用大赛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C12D5B-5667-4E2B-BFA0-3B3B7BFB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A7480"/>
                </a:solidFill>
                <a:latin typeface="SimSun"/>
                <a:ea typeface="SimSun"/>
                <a:cs typeface="SimSun"/>
              </a:defRPr>
            </a:pPr>
            <a:r>
              <a:rPr sz="825" b="0">
                <a:solidFill>
                  <a:srgbClr val="6A7480"/>
                </a:solidFill>
                <a:latin typeface="SimSun"/>
                <a:ea typeface="SimSun"/>
                <a:cs typeface="SimSun"/>
              </a:rPr>
              <a:t>4/11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18E511-4102-44FD-81FE-1064BD15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1066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19191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F8091A-E9B9-4641-AB50-56BA5BF0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955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SimSun"/>
                <a:ea typeface="SimSun"/>
                <a:cs typeface="SimSun"/>
              </a:defRPr>
            </a:pPr>
            <a:r>
              <a:rPr sz="1500" b="1">
                <a:solidFill>
                  <a:srgbClr val="FFFFFF"/>
                </a:solidFill>
                <a:latin typeface="SimSun"/>
                <a:ea typeface="SimSun"/>
                <a:cs typeface="SimSun"/>
              </a:rPr>
              <a:t>浏览器交互层   ·   直播台 / 知识库 / 验证页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9F3AED-FFF0-46C3-BB51-7ACF6A01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3333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C64DF0-AB45-45C2-B21D-4BE1809B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623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2626"/>
                </a:solidFill>
                <a:latin typeface="SimSun"/>
                <a:ea typeface="SimSun"/>
                <a:cs typeface="SimSun"/>
              </a:defRPr>
            </a:pPr>
            <a:r>
              <a:rPr sz="1575" b="1">
                <a:solidFill>
                  <a:srgbClr val="262626"/>
                </a:solidFill>
                <a:latin typeface="SimSun"/>
                <a:ea typeface="SimSun"/>
                <a:cs typeface="SimSun"/>
              </a:rPr>
              <a:t>业务编排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612235-56B9-43C6-87C7-C730E87C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9572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200" b="0">
                <a:solidFill>
                  <a:srgbClr val="191919"/>
                </a:solidFill>
                <a:latin typeface="SimSun"/>
                <a:ea typeface="SimSun"/>
                <a:cs typeface="SimSun"/>
              </a:rPr>
              <a:t>会话、问答、脚本、改稿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8C363A-8317-4D49-BA2C-54D70227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33750"/>
            <a:ext cx="3333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43DF61-07A5-4029-8379-4377A267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5623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2626"/>
                </a:solidFill>
                <a:latin typeface="SimSun"/>
                <a:ea typeface="SimSun"/>
                <a:cs typeface="SimSun"/>
              </a:defRPr>
            </a:pPr>
            <a:r>
              <a:rPr sz="1575" b="1">
                <a:solidFill>
                  <a:srgbClr val="262626"/>
                </a:solidFill>
                <a:latin typeface="SimSun"/>
                <a:ea typeface="SimSun"/>
                <a:cs typeface="SimSun"/>
              </a:rPr>
              <a:t>数据与溯源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CF7905-06FC-45DC-A003-DF719200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89572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200" b="0">
                <a:solidFill>
                  <a:srgbClr val="191919"/>
                </a:solidFill>
                <a:latin typeface="SimSun"/>
                <a:ea typeface="SimSun"/>
                <a:cs typeface="SimSun"/>
              </a:rPr>
              <a:t>文档、片段、版本、音色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68D0B0-4DD1-471F-B73F-7A9FDEC4A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3333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F61D3B-068D-4FF9-85B2-ACAC3BCC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623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2626"/>
                </a:solidFill>
                <a:latin typeface="SimSun"/>
                <a:ea typeface="SimSun"/>
                <a:cs typeface="SimSun"/>
              </a:defRPr>
            </a:pPr>
            <a:r>
              <a:rPr sz="1575" b="1">
                <a:solidFill>
                  <a:srgbClr val="262626"/>
                </a:solidFill>
                <a:latin typeface="SimSun"/>
                <a:ea typeface="SimSun"/>
                <a:cs typeface="SimSun"/>
              </a:rPr>
              <a:t>模型服务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F6C219-0D7D-49B9-AFCB-120D9BF9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9572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200" b="0">
                <a:solidFill>
                  <a:srgbClr val="191919"/>
                </a:solidFill>
                <a:latin typeface="SimSun"/>
                <a:ea typeface="SimSun"/>
                <a:cs typeface="SimSun"/>
              </a:rPr>
              <a:t>GPT-SoVITS v2ProPlus / PCM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5D4192-2EA3-4793-81B3-432F0C79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971800"/>
            <a:ext cx="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EB37F4-1F71-4EB3-881B-D4FDA686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6250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HTTP/JSON + 流式字节</a:t>
            </a:r>
          </a:p>
        </p:txBody>
      </p:sp>
    </p:spTree>
    <p:extLst>
      <p:ext uri="{BB962C8B-B14F-4D97-AF65-F5344CB8AC3E}">
        <p14:creationId xmlns:p14="http://schemas.microsoft.com/office/powerpoint/2010/main" val="8419979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69117A-9C5E-40D3-8534-03A643E3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F3F3F"/>
                </a:solidFill>
                <a:latin typeface="SimSun"/>
                <a:ea typeface="SimSun"/>
                <a:cs typeface="SimSun"/>
              </a:defRPr>
            </a:pPr>
            <a:r>
              <a:rPr sz="900" b="1">
                <a:solidFill>
                  <a:srgbClr val="3F3F3F"/>
                </a:solidFill>
                <a:latin typeface="SimSun"/>
                <a:ea typeface="SimSun"/>
                <a:cs typeface="SimSun"/>
              </a:rPr>
              <a:t>04 / RAG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E2A955-54E1-4CDB-9B6F-9163CE79E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270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答案来自证据单元，而不是来自猜测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E940CE-2924-410A-B05F-7D5D5652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275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清洗、切分、索引、版本和来源一起进入数据库。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F5C4A5-C863-450A-9E09-B603C511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003114-A001-4FD9-9B58-4EE7DA52B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A7480"/>
                </a:solidFill>
                <a:latin typeface="SimSun"/>
                <a:ea typeface="SimSun"/>
                <a:cs typeface="SimSun"/>
              </a:defRPr>
            </a:pPr>
            <a:r>
              <a:rPr sz="825" b="0">
                <a:solidFill>
                  <a:srgbClr val="6A7480"/>
                </a:solidFill>
                <a:latin typeface="SimSun"/>
                <a:ea typeface="SimSun"/>
                <a:cs typeface="SimSun"/>
              </a:rPr>
              <a:t>汽车直播智能体  ·  2026 重庆 AI 大模型创新应用大赛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0E6FC8-06DA-4111-9F83-3835C515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A7480"/>
                </a:solidFill>
                <a:latin typeface="SimSun"/>
                <a:ea typeface="SimSun"/>
                <a:cs typeface="SimSun"/>
              </a:defRPr>
            </a:pPr>
            <a:r>
              <a:rPr sz="825" b="0">
                <a:solidFill>
                  <a:srgbClr val="6A7480"/>
                </a:solidFill>
                <a:latin typeface="SimSun"/>
                <a:ea typeface="SimSun"/>
                <a:cs typeface="SimSun"/>
              </a:rPr>
              <a:t>5/11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315DED-753E-49D6-8636-C8013BEE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28875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D86E98-7AF8-4BEB-9E01-E4E6D284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03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35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文件解析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9795F8-FF11-4CE7-8C2A-21D2003C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00325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275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PDF 页面 / DOCX 表格 / TXT 行序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2506A1-883F-4D95-B8A8-D590FF9A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019425"/>
            <a:ext cx="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9731D0-3353-4390-82D2-5F8D6485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B24326-69C4-4DF5-AF5A-11A2E8A4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575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35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清洗分段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22E04A-1FC7-4486-A6F9-609ED6FC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57575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275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标题、字段、标点和长度规则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F3C5F2-21F8-4A72-8D66-56139A65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876675"/>
            <a:ext cx="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FBEE8E-D1F2-4315-8548-C2B19A6A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43375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8BA1CD-F0CF-4538-BC6C-0DE2AD09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148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35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结构化入库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235CAD-892A-4D10-AC1E-AAA1720C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14825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275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车型、年款、版本、页码、哈希向量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2BF457-3712-4070-AE89-2BF076CC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4733925"/>
            <a:ext cx="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6262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329FE8-D360-4174-A181-F7C88E49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00625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829B66-6651-402F-86BD-0C074DA8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720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35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混合检索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228A37-112E-4BD2-965D-464106FD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72075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275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词法命中 + 稳定向量 + 字段优先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6D6EF0-F0A5-445F-98BF-3B57C224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86000"/>
            <a:ext cx="2857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DE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E82E08-6AED-44F4-929E-CC90F8698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5717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54545"/>
                </a:solidFill>
                <a:latin typeface="SimSun"/>
                <a:ea typeface="SimSun"/>
                <a:cs typeface="SimSun"/>
              </a:defRPr>
            </a:pPr>
            <a:r>
              <a:rPr sz="1200" b="1">
                <a:solidFill>
                  <a:srgbClr val="454545"/>
                </a:solidFill>
                <a:latin typeface="SimSun"/>
                <a:ea typeface="SimSun"/>
                <a:cs typeface="SimSun"/>
              </a:rPr>
              <a:t>输出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0A8E67-CB7C-4EE0-93EF-F687BB36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3370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725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答案</a:t>
            </a:r>
          </a:p>
          <a:p xmlns:a="http://schemas.openxmlformats.org/drawingml/2006/main">
            <a:pPr algn="l">
              <a:defRPr sz="1725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725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置信度</a:t>
            </a:r>
          </a:p>
          <a:p xmlns:a="http://schemas.openxmlformats.org/drawingml/2006/main">
            <a:pPr algn="l">
              <a:defRPr sz="1725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725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来源片段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F3382A-F540-462A-BF6B-0A80C02A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62626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262626"/>
                </a:solidFill>
                <a:latin typeface="SimSun"/>
                <a:ea typeface="SimSun"/>
                <a:cs typeface="SimSun"/>
              </a:rPr>
              <a:t>40/40 · 100%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EA4DB0-ED78-48FB-BD5B-0FD0C35F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9436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检索与最终问答均达标</a:t>
            </a:r>
          </a:p>
        </p:txBody>
      </p:sp>
    </p:spTree>
    <p:extLst>
      <p:ext uri="{BB962C8B-B14F-4D97-AF65-F5344CB8AC3E}">
        <p14:creationId xmlns:p14="http://schemas.microsoft.com/office/powerpoint/2010/main" val="15774629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450681-CFEE-4FE8-8A10-E2A8F8DA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F3F3F"/>
                </a:solidFill>
                <a:latin typeface="SimSun"/>
                <a:ea typeface="SimSun"/>
                <a:cs typeface="SimSun"/>
              </a:defRPr>
            </a:pPr>
            <a:r>
              <a:rPr sz="900" b="1">
                <a:solidFill>
                  <a:srgbClr val="3F3F3F"/>
                </a:solidFill>
                <a:latin typeface="SimSun"/>
                <a:ea typeface="SimSun"/>
                <a:cs typeface="SimSun"/>
              </a:rPr>
              <a:t>05 / 流式 TTS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A3CC6-8FDE-4B0F-8937-A3985B06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270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先让第一句话响起来，再继续生成后面的声音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5C0A12-41A4-4F52-80F0-0D90F94C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275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自然短语切分 + PCM 队列 + 句间淡入淡出，解决等待、断裂和嗒声。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2D3B70-6D74-4BDB-8526-5D2FD259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B2A7A7-31A3-4767-A499-0BD310C91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A7480"/>
                </a:solidFill>
                <a:latin typeface="SimSun"/>
                <a:ea typeface="SimSun"/>
                <a:cs typeface="SimSun"/>
              </a:defRPr>
            </a:pPr>
            <a:r>
              <a:rPr sz="825" b="0">
                <a:solidFill>
                  <a:srgbClr val="6A7480"/>
                </a:solidFill>
                <a:latin typeface="SimSun"/>
                <a:ea typeface="SimSun"/>
                <a:cs typeface="SimSun"/>
              </a:rPr>
              <a:t>汽车直播智能体  ·  2026 重庆 AI 大模型创新应用大赛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EF815B-8C2D-4E5C-90F3-112414DA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A7480"/>
                </a:solidFill>
                <a:latin typeface="SimSun"/>
                <a:ea typeface="SimSun"/>
                <a:cs typeface="SimSun"/>
              </a:defRPr>
            </a:pPr>
            <a:r>
              <a:rPr sz="825" b="0">
                <a:solidFill>
                  <a:srgbClr val="6A7480"/>
                </a:solidFill>
                <a:latin typeface="SimSun"/>
                <a:ea typeface="SimSun"/>
                <a:cs typeface="SimSun"/>
              </a:rPr>
              <a:t>6/11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B753E7-4F2F-486B-BE3B-636A8E6F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185737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6262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F810B0-4A4A-4F35-A3F2-197CA715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05125"/>
            <a:ext cx="1047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C0F426-CB4E-4D07-AEE2-7EEBC105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384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F3F3F"/>
                </a:solidFill>
                <a:latin typeface="SimSun"/>
                <a:ea typeface="SimSun"/>
                <a:cs typeface="SimSun"/>
              </a:defRPr>
            </a:pPr>
            <a:r>
              <a:rPr sz="1050" b="1">
                <a:solidFill>
                  <a:srgbClr val="3F3F3F"/>
                </a:solidFill>
                <a:latin typeface="SimSun"/>
                <a:ea typeface="SimSun"/>
                <a:cs typeface="SimSun"/>
              </a:rPr>
              <a:t>T0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8D0533-141C-42AE-A492-53ACF514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147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20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提交脚本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75413F-1DA0-4B70-A9CC-67CD1A18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238500"/>
            <a:ext cx="185737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6262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E949ED-9305-423D-BA93-8C1B748F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905125"/>
            <a:ext cx="1047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4B15B7-E3D1-4D8F-8B6B-46E7E243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384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F3F3F"/>
                </a:solidFill>
                <a:latin typeface="SimSun"/>
                <a:ea typeface="SimSun"/>
                <a:cs typeface="SimSun"/>
              </a:defRPr>
            </a:pPr>
            <a:r>
              <a:rPr sz="1050" b="1">
                <a:solidFill>
                  <a:srgbClr val="3F3F3F"/>
                </a:solidFill>
                <a:latin typeface="SimSun"/>
                <a:ea typeface="SimSun"/>
                <a:cs typeface="SimSun"/>
              </a:rPr>
              <a:t>T1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456DDD-CD34-455B-AE34-6597BF44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3147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20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切分短语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ACB333-4D1A-4BA9-A027-C40464AD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38500"/>
            <a:ext cx="185737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6262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DAE341-9D56-4833-8ABA-506CB92B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05125"/>
            <a:ext cx="1047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516500-55B4-42E2-8B02-968D7E46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384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SimSun"/>
                <a:ea typeface="SimSun"/>
                <a:cs typeface="SimSun"/>
              </a:defRPr>
            </a:pPr>
            <a:r>
              <a:rPr sz="1050" b="1">
                <a:solidFill>
                  <a:srgbClr val="FFFFFF"/>
                </a:solidFill>
                <a:latin typeface="SimSun"/>
                <a:ea typeface="SimSun"/>
                <a:cs typeface="SimSun"/>
              </a:rPr>
              <a:t>T2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EBDD70-1BA4-45C7-A1C7-53C8198B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147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SimSun"/>
                <a:ea typeface="SimSun"/>
                <a:cs typeface="SimSun"/>
              </a:defRPr>
            </a:pPr>
            <a:r>
              <a:rPr sz="1200" b="1">
                <a:solidFill>
                  <a:srgbClr val="FFFFFF"/>
                </a:solidFill>
                <a:latin typeface="SimSun"/>
                <a:ea typeface="SimSun"/>
                <a:cs typeface="SimSun"/>
              </a:rPr>
              <a:t>首个 PCM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26D5D0-2568-43DF-9738-2BA9ECE2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38500"/>
            <a:ext cx="185737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6262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FDEB74-4312-438B-B7E9-4ADD5AD2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905125"/>
            <a:ext cx="1047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0E7C36-3C1E-4C13-8630-C139D981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0384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F3F3F"/>
                </a:solidFill>
                <a:latin typeface="SimSun"/>
                <a:ea typeface="SimSun"/>
                <a:cs typeface="SimSun"/>
              </a:defRPr>
            </a:pPr>
            <a:r>
              <a:rPr sz="1050" b="1">
                <a:solidFill>
                  <a:srgbClr val="3F3F3F"/>
                </a:solidFill>
                <a:latin typeface="SimSun"/>
                <a:ea typeface="SimSun"/>
                <a:cs typeface="SimSun"/>
              </a:rPr>
              <a:t>T3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684428-0DCB-44D3-A6CD-EA255DEE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3147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20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队列播放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CFBE76-96AC-445C-87C5-A9A38FDD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905125"/>
            <a:ext cx="1047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31B115-463C-4C78-8CF9-FBC2E87C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0384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F3F3F"/>
                </a:solidFill>
                <a:latin typeface="SimSun"/>
                <a:ea typeface="SimSun"/>
                <a:cs typeface="SimSun"/>
              </a:defRPr>
            </a:pPr>
            <a:r>
              <a:rPr sz="1050" b="1">
                <a:solidFill>
                  <a:srgbClr val="3F3F3F"/>
                </a:solidFill>
                <a:latin typeface="SimSun"/>
                <a:ea typeface="SimSun"/>
                <a:cs typeface="SimSun"/>
              </a:rPr>
              <a:t>T4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D57786-FF5E-4F6E-B8FD-46567F6A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3147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20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继续生成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9A2645-5840-4F0C-8961-706CCD5B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243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62626"/>
                </a:solidFill>
                <a:latin typeface="SimSun"/>
                <a:ea typeface="SimSun"/>
                <a:cs typeface="SimSun"/>
              </a:defRPr>
            </a:pPr>
            <a:r>
              <a:rPr sz="1800" b="1">
                <a:solidFill>
                  <a:srgbClr val="262626"/>
                </a:solidFill>
                <a:latin typeface="SimSun"/>
                <a:ea typeface="SimSun"/>
                <a:cs typeface="SimSun"/>
              </a:rPr>
              <a:t>mode 1 PCM 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3ACDCC-41DC-48FF-9268-4374681F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24 kHz / 单声道 / 16-bit / 2 ms 边界淡入淡出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0E98DA-1769-43F6-B91F-94359276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86250"/>
            <a:ext cx="2762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C98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519362-2618-4E0D-A8A7-18B2AA47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243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F3F3F"/>
                </a:solidFill>
                <a:latin typeface="SimSun"/>
                <a:ea typeface="SimSun"/>
                <a:cs typeface="SimSun"/>
              </a:defRPr>
            </a:pPr>
            <a:r>
              <a:rPr sz="1200" b="1">
                <a:solidFill>
                  <a:srgbClr val="3F3F3F"/>
                </a:solidFill>
                <a:latin typeface="SimSun"/>
                <a:ea typeface="SimSun"/>
                <a:cs typeface="SimSun"/>
              </a:rPr>
              <a:t>首音频平均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3B8BBA-8FA6-4BA4-A49E-6C07C023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577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210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2323 ms</a:t>
            </a:r>
          </a:p>
        </p:txBody>
      </p:sp>
    </p:spTree>
    <p:extLst>
      <p:ext uri="{BB962C8B-B14F-4D97-AF65-F5344CB8AC3E}">
        <p14:creationId xmlns:p14="http://schemas.microsoft.com/office/powerpoint/2010/main" val="6980906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8056D7-9BC6-4533-BC07-268DE6FC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F3F3F"/>
                </a:solidFill>
                <a:latin typeface="SimSun"/>
                <a:ea typeface="SimSun"/>
                <a:cs typeface="SimSun"/>
              </a:defRPr>
            </a:pPr>
            <a:r>
              <a:rPr sz="900" b="1">
                <a:solidFill>
                  <a:srgbClr val="3F3F3F"/>
                </a:solidFill>
                <a:latin typeface="SimSun"/>
                <a:ea typeface="SimSun"/>
                <a:cs typeface="SimSun"/>
              </a:rPr>
              <a:t>06 / 动态改稿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642B8E-9CE2-490B-A3C0-C4175445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270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改稿只刷新尚未播放的后续内容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EA0081-B461-45B9-B77B-0D8DAE16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275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把播放中的短语设为不可变区，把待生成内容设为可变区。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AA7963-962E-4605-8FC6-9AC75C3F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E7F3F6-8761-4FB1-9FB5-428A28BD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A7480"/>
                </a:solidFill>
                <a:latin typeface="SimSun"/>
                <a:ea typeface="SimSun"/>
                <a:cs typeface="SimSun"/>
              </a:defRPr>
            </a:pPr>
            <a:r>
              <a:rPr sz="825" b="0">
                <a:solidFill>
                  <a:srgbClr val="6A7480"/>
                </a:solidFill>
                <a:latin typeface="SimSun"/>
                <a:ea typeface="SimSun"/>
                <a:cs typeface="SimSun"/>
              </a:rPr>
              <a:t>汽车直播智能体  ·  2026 重庆 AI 大模型创新应用大赛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A168F1-F45A-4D7A-BABD-974D88D6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A7480"/>
                </a:solidFill>
                <a:latin typeface="SimSun"/>
                <a:ea typeface="SimSun"/>
                <a:cs typeface="SimSun"/>
              </a:defRPr>
            </a:pPr>
            <a:r>
              <a:rPr sz="825" b="0">
                <a:solidFill>
                  <a:srgbClr val="6A7480"/>
                </a:solidFill>
                <a:latin typeface="SimSun"/>
                <a:ea typeface="SimSun"/>
                <a:cs typeface="SimSun"/>
              </a:rPr>
              <a:t>7/11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683D0C-9E59-4743-AF43-4246A429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4191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091CE4-CF00-442A-85DF-2EFA75EF3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765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2626"/>
                </a:solidFill>
                <a:latin typeface="SimSun"/>
                <a:ea typeface="SimSun"/>
                <a:cs typeface="SimSun"/>
              </a:defRPr>
            </a:pPr>
            <a:r>
              <a:rPr sz="1425" b="1">
                <a:solidFill>
                  <a:srgbClr val="262626"/>
                </a:solidFill>
                <a:latin typeface="SimSun"/>
                <a:ea typeface="SimSun"/>
                <a:cs typeface="SimSun"/>
              </a:rPr>
              <a:t>不可变区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C83E65-C330-4DC9-8950-5722B43B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33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当前正在播放的短语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9E1CC5-6D33-4BD3-86D9-1FC5A496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86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完整结束，不截断、不重复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3FC6ED-2D70-4F67-A7B4-847A9DF9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71750"/>
            <a:ext cx="5334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9AFFFA-D1F6-4D76-BB75-A675B3EF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8765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54545"/>
                </a:solidFill>
                <a:latin typeface="SimSun"/>
                <a:ea typeface="SimSun"/>
                <a:cs typeface="SimSun"/>
              </a:defRPr>
            </a:pPr>
            <a:r>
              <a:rPr sz="1425" b="1">
                <a:solidFill>
                  <a:srgbClr val="454545"/>
                </a:solidFill>
                <a:latin typeface="SimSun"/>
                <a:ea typeface="SimSun"/>
                <a:cs typeface="SimSun"/>
              </a:rPr>
              <a:t>可变区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C75CC9-2242-462A-A5AE-8E83B634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3337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尚未开始播放的后续片段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816220-675B-4FC9-9746-F4BAF6DD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8862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取消旧请求，按新版本重新生成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18E128-C3DD-412F-B730-26537FF3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571875"/>
            <a:ext cx="5334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6262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9508C2-CFE7-444B-9907-766A58F7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62626"/>
                </a:solidFill>
                <a:latin typeface="SimSun"/>
                <a:ea typeface="SimSun"/>
                <a:cs typeface="SimSun"/>
              </a:defRPr>
            </a:pPr>
            <a:r>
              <a:rPr sz="1800" b="1">
                <a:solidFill>
                  <a:srgbClr val="262626"/>
                </a:solidFill>
                <a:latin typeface="SimSun"/>
                <a:ea typeface="SimSun"/>
                <a:cs typeface="SimSun"/>
              </a:rPr>
              <a:t>revision 1  →  revision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24D50B-699F-43DC-BFC0-C15E9562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4292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54545"/>
                </a:solidFill>
                <a:latin typeface="SimSun"/>
                <a:ea typeface="SimSun"/>
                <a:cs typeface="SimSun"/>
              </a:defRPr>
            </a:pPr>
            <a:r>
              <a:rPr sz="1800" b="1">
                <a:solidFill>
                  <a:srgbClr val="454545"/>
                </a:solidFill>
                <a:latin typeface="SimSun"/>
                <a:ea typeface="SimSun"/>
                <a:cs typeface="SimSun"/>
              </a:rPr>
              <a:t>safe_sentence = 1</a:t>
            </a:r>
          </a:p>
        </p:txBody>
      </p:sp>
    </p:spTree>
    <p:extLst>
      <p:ext uri="{BB962C8B-B14F-4D97-AF65-F5344CB8AC3E}">
        <p14:creationId xmlns:p14="http://schemas.microsoft.com/office/powerpoint/2010/main" val="6854245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D6FE3C-BC5E-4A1C-947B-98B0B126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F3F3F"/>
                </a:solidFill>
                <a:latin typeface="SimSun"/>
                <a:ea typeface="SimSun"/>
                <a:cs typeface="SimSun"/>
              </a:defRPr>
            </a:pPr>
            <a:r>
              <a:rPr sz="900" b="1">
                <a:solidFill>
                  <a:srgbClr val="3F3F3F"/>
                </a:solidFill>
                <a:latin typeface="SimSun"/>
                <a:ea typeface="SimSun"/>
                <a:cs typeface="SimSun"/>
              </a:rPr>
              <a:t>07 / 音色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90FBA7-A836-4543-9594-8290ADD8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270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音色质量从参考音频门禁开始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A4B297-1AB2-4E29-807F-968C64BB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275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不把随机性当作补救；先保证样本、文本、profile 和预热状态一致。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0BDD5F-0DE8-4063-BA76-3FBBD6FD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F4ACDE-3D9E-43AC-9300-40760E80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A7480"/>
                </a:solidFill>
                <a:latin typeface="SimSun"/>
                <a:ea typeface="SimSun"/>
                <a:cs typeface="SimSun"/>
              </a:defRPr>
            </a:pPr>
            <a:r>
              <a:rPr sz="825" b="0">
                <a:solidFill>
                  <a:srgbClr val="6A7480"/>
                </a:solidFill>
                <a:latin typeface="SimSun"/>
                <a:ea typeface="SimSun"/>
                <a:cs typeface="SimSun"/>
              </a:rPr>
              <a:t>汽车直播智能体  ·  2026 重庆 AI 大模型创新应用大赛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6009A9-1A9A-4B02-A14A-AC125C85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A7480"/>
                </a:solidFill>
                <a:latin typeface="SimSun"/>
                <a:ea typeface="SimSun"/>
                <a:cs typeface="SimSun"/>
              </a:defRPr>
            </a:pPr>
            <a:r>
              <a:rPr sz="825" b="0">
                <a:solidFill>
                  <a:srgbClr val="6A7480"/>
                </a:solidFill>
                <a:latin typeface="SimSun"/>
                <a:ea typeface="SimSun"/>
                <a:cs typeface="SimSun"/>
              </a:rPr>
              <a:t>8/11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9910F2-5D41-4728-AA85-E0CA9207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2190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B8B07F-51C4-4797-ADB1-5B9FE929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F3F3F"/>
                </a:solidFill>
                <a:latin typeface="SimSun"/>
                <a:ea typeface="SimSun"/>
                <a:cs typeface="SimSun"/>
              </a:defRPr>
            </a:pPr>
            <a:r>
              <a:rPr sz="1050" b="1">
                <a:solidFill>
                  <a:srgbClr val="3F3F3F"/>
                </a:solidFill>
                <a:latin typeface="SimSun"/>
                <a:ea typeface="SimSun"/>
                <a:cs typeface="SimSun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4AC9AD-DBD2-453A-BB1E-CF3903BE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99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725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样本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BC4717-1CEA-442E-B89D-515F1961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200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3-10 秒 / 单人 / 无配乐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083BEA-EF48-4891-957A-51DE1482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47950"/>
            <a:ext cx="2190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7AA1FF-3D70-4845-8581-7D2BF265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575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F3F3F"/>
                </a:solidFill>
                <a:latin typeface="SimSun"/>
                <a:ea typeface="SimSun"/>
                <a:cs typeface="SimSun"/>
              </a:defRPr>
            </a:pPr>
            <a:r>
              <a:rPr sz="1050" b="1">
                <a:solidFill>
                  <a:srgbClr val="3F3F3F"/>
                </a:solidFill>
                <a:latin typeface="SimSun"/>
                <a:ea typeface="SimSun"/>
                <a:cs typeface="SimSun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6BEDDB-E084-4B59-A32F-8DE99324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099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725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文本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6CF30E-C30C-4F60-806D-B762800F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385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200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逐字一致 / 时长密度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609805-B5B7-4A83-92AB-6EFCF227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47950"/>
            <a:ext cx="2190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82A04A-7392-472D-A45F-4C09395C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F3F3F"/>
                </a:solidFill>
                <a:latin typeface="SimSun"/>
                <a:ea typeface="SimSun"/>
                <a:cs typeface="SimSun"/>
              </a:defRPr>
            </a:pPr>
            <a:r>
              <a:rPr sz="1050" b="1">
                <a:solidFill>
                  <a:srgbClr val="3F3F3F"/>
                </a:solidFill>
                <a:latin typeface="SimSun"/>
                <a:ea typeface="SimSun"/>
                <a:cs typeface="SimSun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E6EA31-D3C1-4814-8046-54EA230B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99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725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profile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390E76-BD61-4B6A-AE7C-ED8639193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385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200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v2ProPlus / voice_id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4A7360-C162-4BBC-87C0-71CE1832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47950"/>
            <a:ext cx="2190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BF9061-6A5C-4B39-BB65-F1CE20ED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575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F3F3F"/>
                </a:solidFill>
                <a:latin typeface="SimSun"/>
                <a:ea typeface="SimSun"/>
                <a:cs typeface="SimSun"/>
              </a:defRPr>
            </a:pPr>
            <a:r>
              <a:rPr sz="1050" b="1">
                <a:solidFill>
                  <a:srgbClr val="3F3F3F"/>
                </a:solidFill>
                <a:latin typeface="SimSun"/>
                <a:ea typeface="SimSun"/>
                <a:cs typeface="SimSun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AAB2A3-6527-46FD-B180-AF8FE3CE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099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725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预热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42D967-6FE3-437F-9F2E-162BFEA9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385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200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切换前先跑短句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2036AA-D4D2-48FC-AFE8-586839DA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2626"/>
                </a:solidFill>
                <a:latin typeface="SimSun"/>
                <a:ea typeface="SimSun"/>
                <a:cs typeface="SimSun"/>
              </a:defRPr>
            </a:pPr>
            <a:r>
              <a:rPr sz="1350" b="1">
                <a:solidFill>
                  <a:srgbClr val="262626"/>
                </a:solidFill>
                <a:latin typeface="SimSun"/>
                <a:ea typeface="SimSun"/>
                <a:cs typeface="SimSun"/>
              </a:rPr>
              <a:t>质量指标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3D9397-F3DD-43E4-BE91-41BF87F1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148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275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active_ratio  ·  silence_ratio  ·  clipped_ratio  ·  chars_per_second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9404AF-267A-4202-B503-ABA6A81F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62626"/>
                </a:solidFill>
                <a:latin typeface="SimSun"/>
                <a:ea typeface="SimSun"/>
                <a:cs typeface="SimSun"/>
              </a:defRPr>
            </a:pPr>
            <a:r>
              <a:rPr sz="1725" b="1">
                <a:solidFill>
                  <a:srgbClr val="262626"/>
                </a:solidFill>
                <a:latin typeface="SimSun"/>
                <a:ea typeface="SimSun"/>
                <a:cs typeface="SimSun"/>
              </a:rPr>
              <a:t>6 套克隆音色已登记并可切换</a:t>
            </a:r>
          </a:p>
        </p:txBody>
      </p:sp>
    </p:spTree>
    <p:extLst>
      <p:ext uri="{BB962C8B-B14F-4D97-AF65-F5344CB8AC3E}">
        <p14:creationId xmlns:p14="http://schemas.microsoft.com/office/powerpoint/2010/main" val="10651257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531AB9-E966-41FF-A637-7603DCF7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F3F3F"/>
                </a:solidFill>
                <a:latin typeface="SimSun"/>
                <a:ea typeface="SimSun"/>
                <a:cs typeface="SimSun"/>
              </a:defRPr>
            </a:pPr>
            <a:r>
              <a:rPr sz="900" b="1">
                <a:solidFill>
                  <a:srgbClr val="3F3F3F"/>
                </a:solidFill>
                <a:latin typeface="SimSun"/>
                <a:ea typeface="SimSun"/>
                <a:cs typeface="SimSun"/>
              </a:rPr>
              <a:t>08 / 现场演示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E10551-4785-4D62-A248-5F50DC04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270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三分钟把验收要求讲清楚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A131C4-6B73-4202-8B9A-FBFA9F55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275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演示顺序按评委的判断路径组织：有资料、有证据、有声音、有修改。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1217ED-3059-49B9-8398-8564C04DC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5CE274-7F88-4611-8278-2DB8800E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A7480"/>
                </a:solidFill>
                <a:latin typeface="SimSun"/>
                <a:ea typeface="SimSun"/>
                <a:cs typeface="SimSun"/>
              </a:defRPr>
            </a:pPr>
            <a:r>
              <a:rPr sz="825" b="0">
                <a:solidFill>
                  <a:srgbClr val="6A7480"/>
                </a:solidFill>
                <a:latin typeface="SimSun"/>
                <a:ea typeface="SimSun"/>
                <a:cs typeface="SimSun"/>
              </a:rPr>
              <a:t>汽车直播智能体  ·  2026 重庆 AI 大模型创新应用大赛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3A27DC-D6DD-4368-B3CD-907C5373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A7480"/>
                </a:solidFill>
                <a:latin typeface="SimSun"/>
                <a:ea typeface="SimSun"/>
                <a:cs typeface="SimSun"/>
              </a:defRPr>
            </a:pPr>
            <a:r>
              <a:rPr sz="825" b="0">
                <a:solidFill>
                  <a:srgbClr val="6A7480"/>
                </a:solidFill>
                <a:latin typeface="SimSun"/>
                <a:ea typeface="SimSun"/>
                <a:cs typeface="SimSun"/>
              </a:rPr>
              <a:t>9/11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10A28E-2D76-43BE-A695-610248F1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2095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1A8ABD-CCAE-4E14-9B73-E2E1BBF7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765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F3F3F"/>
                </a:solidFill>
                <a:latin typeface="SimSun"/>
                <a:ea typeface="SimSun"/>
                <a:cs typeface="SimSun"/>
              </a:defRPr>
            </a:pPr>
            <a:r>
              <a:rPr sz="1050" b="1">
                <a:solidFill>
                  <a:srgbClr val="3F3F3F"/>
                </a:solidFill>
                <a:latin typeface="SimSun"/>
                <a:ea typeface="SimSun"/>
                <a:cs typeface="SimSun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B994A0-156B-45C8-B07E-010BEFE28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0"/>
            <a:ext cx="176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50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导入资料</a:t>
            </a:r>
          </a:p>
          <a:p xmlns:a="http://schemas.openxmlformats.org/drawingml/2006/main">
            <a:pPr algn="l">
              <a:defRPr sz="150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50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展示版本与片段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7015CF-C0A6-42E3-92D8-10C3183D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67000"/>
            <a:ext cx="2095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B42C79-D791-496B-935F-32B49248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8765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F3F3F"/>
                </a:solidFill>
                <a:latin typeface="SimSun"/>
                <a:ea typeface="SimSun"/>
                <a:cs typeface="SimSun"/>
              </a:defRPr>
            </a:pPr>
            <a:r>
              <a:rPr sz="1050" b="1">
                <a:solidFill>
                  <a:srgbClr val="3F3F3F"/>
                </a:solidFill>
                <a:latin typeface="SimSun"/>
                <a:ea typeface="SimSun"/>
                <a:cs typeface="SimSun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D72582-4958-4644-8DFB-4643DC48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238500"/>
            <a:ext cx="176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50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提问续航</a:t>
            </a:r>
          </a:p>
          <a:p xmlns:a="http://schemas.openxmlformats.org/drawingml/2006/main">
            <a:pPr algn="l">
              <a:defRPr sz="150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50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展示来源与置信度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E223DE-7577-48F2-B9EA-A1091B3E6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67000"/>
            <a:ext cx="2095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7A091D-BAB7-4DD7-90C3-027B47AE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765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F3F3F"/>
                </a:solidFill>
                <a:latin typeface="SimSun"/>
                <a:ea typeface="SimSun"/>
                <a:cs typeface="SimSun"/>
              </a:defRPr>
            </a:pPr>
            <a:r>
              <a:rPr sz="1050" b="1">
                <a:solidFill>
                  <a:srgbClr val="3F3F3F"/>
                </a:solidFill>
                <a:latin typeface="SimSun"/>
                <a:ea typeface="SimSun"/>
                <a:cs typeface="SimSun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69354E-1D48-4F49-8098-67C9AE52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38500"/>
            <a:ext cx="176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50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播放脚本</a:t>
            </a:r>
          </a:p>
          <a:p xmlns:a="http://schemas.openxmlformats.org/drawingml/2006/main">
            <a:pPr algn="l">
              <a:defRPr sz="150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50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首包立即排程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3D6408-D9BD-4D77-8075-A73D822F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67000"/>
            <a:ext cx="2095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D8863F-ADAD-4370-84EA-123946B3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765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F3F3F"/>
                </a:solidFill>
                <a:latin typeface="SimSun"/>
                <a:ea typeface="SimSun"/>
                <a:cs typeface="SimSun"/>
              </a:defRPr>
            </a:pPr>
            <a:r>
              <a:rPr sz="1050" b="1">
                <a:solidFill>
                  <a:srgbClr val="3F3F3F"/>
                </a:solidFill>
                <a:latin typeface="SimSun"/>
                <a:ea typeface="SimSun"/>
                <a:cs typeface="SimSun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9FBA3B-3C4F-4E5C-94A3-0E9FE096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38500"/>
            <a:ext cx="176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50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改写后半句</a:t>
            </a:r>
          </a:p>
          <a:p xmlns:a="http://schemas.openxmlformats.org/drawingml/2006/main">
            <a:pPr algn="l">
              <a:defRPr sz="150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50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观察安全切换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A48716-FF8A-4F5C-86FD-4F4674BA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962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2626"/>
                </a:solidFill>
                <a:latin typeface="SimSun"/>
                <a:ea typeface="SimSun"/>
                <a:cs typeface="SimSun"/>
              </a:defRPr>
            </a:pPr>
            <a:r>
              <a:rPr sz="1575" b="1">
                <a:solidFill>
                  <a:srgbClr val="262626"/>
                </a:solidFill>
                <a:latin typeface="SimSun"/>
                <a:ea typeface="SimSun"/>
                <a:cs typeface="SimSun"/>
              </a:rPr>
              <a:t>最后打开验证页，现场展示 100% 检索/问答准确率和 2323 ms 首音频平均</a:t>
            </a:r>
          </a:p>
        </p:txBody>
      </p:sp>
    </p:spTree>
    <p:extLst>
      <p:ext uri="{BB962C8B-B14F-4D97-AF65-F5344CB8AC3E}">
        <p14:creationId xmlns:p14="http://schemas.microsoft.com/office/powerpoint/2010/main" val="20123783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39A8C3-FDB5-4DC4-BDFA-28DF02D2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F3F3F"/>
                </a:solidFill>
                <a:latin typeface="SimSun"/>
                <a:ea typeface="SimSun"/>
                <a:cs typeface="SimSun"/>
              </a:defRPr>
            </a:pPr>
            <a:r>
              <a:rPr sz="900" b="1">
                <a:solidFill>
                  <a:srgbClr val="3F3F3F"/>
                </a:solidFill>
                <a:latin typeface="SimSun"/>
                <a:ea typeface="SimSun"/>
                <a:cs typeface="SimSun"/>
              </a:rPr>
              <a:t>09 / 指标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D042FD-9E45-4D01-80C2-84152CD0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270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每个硬指标都对应一份可复现证据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7304B2-38F1-447E-BEF7-A56E2A12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275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不只报结果，也说明样本、目标和验证入口。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E24F14-2B3B-426C-BAAE-3776B5042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7B2498-0890-4D5D-A602-6AF65552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A7480"/>
                </a:solidFill>
                <a:latin typeface="SimSun"/>
                <a:ea typeface="SimSun"/>
                <a:cs typeface="SimSun"/>
              </a:defRPr>
            </a:pPr>
            <a:r>
              <a:rPr sz="825" b="0">
                <a:solidFill>
                  <a:srgbClr val="6A7480"/>
                </a:solidFill>
                <a:latin typeface="SimSun"/>
                <a:ea typeface="SimSun"/>
                <a:cs typeface="SimSun"/>
              </a:rPr>
              <a:t>汽车直播智能体  ·  2026 重庆 AI 大模型创新应用大赛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D9CC8E-A11C-41F1-9FA2-23E26171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A7480"/>
                </a:solidFill>
                <a:latin typeface="SimSun"/>
                <a:ea typeface="SimSun"/>
                <a:cs typeface="SimSun"/>
              </a:defRPr>
            </a:pPr>
            <a:r>
              <a:rPr sz="825" b="0">
                <a:solidFill>
                  <a:srgbClr val="6A7480"/>
                </a:solidFill>
                <a:latin typeface="SimSun"/>
                <a:ea typeface="SimSun"/>
                <a:cs typeface="SimSun"/>
              </a:rPr>
              <a:t>10/11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6EB709-5C07-4C97-B131-C02A44CF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1047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331ABF-B921-4379-A6FB-AE9785AA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241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35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检索准确率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39AC4F-14F0-4B63-80CE-3379A5F2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241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2626"/>
                </a:solidFill>
                <a:latin typeface="SimSun"/>
                <a:ea typeface="SimSun"/>
                <a:cs typeface="SimSun"/>
              </a:defRPr>
            </a:pPr>
            <a:r>
              <a:rPr sz="1425" b="1">
                <a:solidFill>
                  <a:srgbClr val="262626"/>
                </a:solidFill>
                <a:latin typeface="SimSun"/>
                <a:ea typeface="SimSun"/>
                <a:cs typeface="SimSun"/>
              </a:rPr>
              <a:t>40/40 · 100%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441D3E-4A39-4FE2-9538-2A1BD161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241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200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目标 &gt;=85%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B73892-82D7-49AA-9B99-F3D5F961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1047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41134F-C4CC-4BE7-A43E-C68D9FDE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099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35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问答准确率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EFCFEE-D671-4E56-B8B9-1FCFD2A4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099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2626"/>
                </a:solidFill>
                <a:latin typeface="SimSun"/>
                <a:ea typeface="SimSun"/>
                <a:cs typeface="SimSun"/>
              </a:defRPr>
            </a:pPr>
            <a:r>
              <a:rPr sz="1425" b="1">
                <a:solidFill>
                  <a:srgbClr val="262626"/>
                </a:solidFill>
                <a:latin typeface="SimSun"/>
                <a:ea typeface="SimSun"/>
                <a:cs typeface="SimSun"/>
              </a:rPr>
              <a:t>40/40 · 100%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339091-58EB-443A-B3B9-E9624314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099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200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目标 &gt;=85%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655D1B-A342-428B-8E6C-936A3ADC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52850"/>
            <a:ext cx="1047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1586AB-8923-47F8-B275-9A8D05F2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957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35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TTS 首音频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618863-ED80-4A2B-938C-0ECA58D4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957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2626"/>
                </a:solidFill>
                <a:latin typeface="SimSun"/>
                <a:ea typeface="SimSun"/>
                <a:cs typeface="SimSun"/>
              </a:defRPr>
            </a:pPr>
            <a:r>
              <a:rPr sz="1425" b="1">
                <a:solidFill>
                  <a:srgbClr val="262626"/>
                </a:solidFill>
                <a:latin typeface="SimSun"/>
                <a:ea typeface="SimSun"/>
                <a:cs typeface="SimSun"/>
              </a:rPr>
              <a:t>平均 2323 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B9A973-8D43-4490-B7BF-747B4AC7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957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200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目标 &lt;=3000 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D17F74-F7F8-4089-A798-80B0032BF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38650"/>
            <a:ext cx="1047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C82647-8143-461D-B3AE-98EEF449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815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35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单元测试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16A141-DF50-40BB-9C70-55E208E5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815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2626"/>
                </a:solidFill>
                <a:latin typeface="SimSun"/>
                <a:ea typeface="SimSun"/>
                <a:cs typeface="SimSun"/>
              </a:defRPr>
            </a:pPr>
            <a:r>
              <a:rPr sz="1425" b="1">
                <a:solidFill>
                  <a:srgbClr val="262626"/>
                </a:solidFill>
                <a:latin typeface="SimSun"/>
                <a:ea typeface="SimSun"/>
                <a:cs typeface="SimSun"/>
              </a:rPr>
              <a:t>35/35 passed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485BE9-9F7F-454A-9BA5-75B1879F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815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200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无失败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961B56-8CDC-4A57-BAED-EBB88D79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275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证据文件：evidence/verification.json  ·  复现命令：verify.ps1</a:t>
            </a:r>
          </a:p>
        </p:txBody>
      </p:sp>
    </p:spTree>
    <p:extLst>
      <p:ext uri="{BB962C8B-B14F-4D97-AF65-F5344CB8AC3E}">
        <p14:creationId xmlns:p14="http://schemas.microsoft.com/office/powerpoint/2010/main" val="5687203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DF02D9-DDF1-45C8-BECE-0CAD9CC8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F3F3F"/>
                </a:solidFill>
                <a:latin typeface="SimSun"/>
                <a:ea typeface="SimSun"/>
                <a:cs typeface="SimSun"/>
              </a:defRPr>
            </a:pPr>
            <a:r>
              <a:rPr sz="900" b="1">
                <a:solidFill>
                  <a:srgbClr val="3F3F3F"/>
                </a:solidFill>
                <a:latin typeface="SimSun"/>
                <a:ea typeface="SimSun"/>
                <a:cs typeface="SimSun"/>
              </a:rPr>
              <a:t>10 / 落地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BBF7D4-0FF1-4BB7-A4BD-E1645379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2700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从比赛原型走向可复用的直播工作台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8CBBB3-8B28-456A-940A-5DF30F51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275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本地优先降低数据外发风险，模块化接口保留后续扩展空间。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A6FD3B-D5B5-4126-B98F-FCC8BA93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7458C5-35F2-42A0-BE5C-68D45C40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A7480"/>
                </a:solidFill>
                <a:latin typeface="SimSun"/>
                <a:ea typeface="SimSun"/>
                <a:cs typeface="SimSun"/>
              </a:defRPr>
            </a:pPr>
            <a:r>
              <a:rPr sz="825" b="0">
                <a:solidFill>
                  <a:srgbClr val="6A7480"/>
                </a:solidFill>
                <a:latin typeface="SimSun"/>
                <a:ea typeface="SimSun"/>
                <a:cs typeface="SimSun"/>
              </a:rPr>
              <a:t>汽车直播智能体  ·  2026 重庆 AI 大模型创新应用大赛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CC1660-DCDB-48E1-AA6D-4441C330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A7480"/>
                </a:solidFill>
                <a:latin typeface="SimSun"/>
                <a:ea typeface="SimSun"/>
                <a:cs typeface="SimSun"/>
              </a:defRPr>
            </a:pPr>
            <a:r>
              <a:rPr sz="825" b="0">
                <a:solidFill>
                  <a:srgbClr val="6A7480"/>
                </a:solidFill>
                <a:latin typeface="SimSun"/>
                <a:ea typeface="SimSun"/>
                <a:cs typeface="SimSun"/>
              </a:rPr>
              <a:t>11/11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626A1A-785B-4307-B987-B5643C340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2857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31BCB0-1F45-4844-B0DE-26FF0869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718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62626"/>
                </a:solidFill>
                <a:latin typeface="SimSun"/>
                <a:ea typeface="SimSun"/>
                <a:cs typeface="SimSun"/>
              </a:defRPr>
            </a:pPr>
            <a:r>
              <a:rPr sz="2025" b="1">
                <a:solidFill>
                  <a:srgbClr val="262626"/>
                </a:solidFill>
                <a:latin typeface="SimSun"/>
                <a:ea typeface="SimSun"/>
                <a:cs typeface="SimSun"/>
              </a:rPr>
              <a:t>可复制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3ADB15-A039-4D81-A9DE-46C4C03D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242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车型资料和音色 profile</a:t>
            </a:r>
          </a:p>
          <a:p xmlns:a="http://schemas.openxmlformats.org/drawingml/2006/main">
            <a:pPr algn="l"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按项目隔离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1DAE0C-08DF-4450-AFD9-C109DD8A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2857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C742BC-0F1D-423A-B444-0748CBD4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9718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62626"/>
                </a:solidFill>
                <a:latin typeface="SimSun"/>
                <a:ea typeface="SimSun"/>
                <a:cs typeface="SimSun"/>
              </a:defRPr>
            </a:pPr>
            <a:r>
              <a:rPr sz="2025" b="1">
                <a:solidFill>
                  <a:srgbClr val="262626"/>
                </a:solidFill>
                <a:latin typeface="SimSun"/>
                <a:ea typeface="SimSun"/>
                <a:cs typeface="SimSun"/>
              </a:rPr>
              <a:t>可维护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5FD768-8624-461A-A6CD-D866611E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5242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版本、指标和日志</a:t>
            </a:r>
          </a:p>
          <a:p xmlns:a="http://schemas.openxmlformats.org/drawingml/2006/main">
            <a:pPr algn="l"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支持现场复盘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0EF64E-0E2F-4E74-8AFF-1048FB4D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71750"/>
            <a:ext cx="2857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8A8A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B60360-7D78-4B41-A377-3F2F3885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718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62626"/>
                </a:solidFill>
                <a:latin typeface="SimSun"/>
                <a:ea typeface="SimSun"/>
                <a:cs typeface="SimSun"/>
              </a:defRPr>
            </a:pPr>
            <a:r>
              <a:rPr sz="2025" b="1">
                <a:solidFill>
                  <a:srgbClr val="262626"/>
                </a:solidFill>
                <a:latin typeface="SimSun"/>
                <a:ea typeface="SimSun"/>
                <a:cs typeface="SimSun"/>
              </a:rPr>
              <a:t>可扩展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3C4D71-8539-42F0-95F9-5994C73E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242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可接入更多模型</a:t>
            </a:r>
          </a:p>
          <a:p xmlns:a="http://schemas.openxmlformats.org/drawingml/2006/main">
            <a:pPr algn="l">
              <a:defRPr sz="1350" b="0">
                <a:solidFill>
                  <a:srgbClr val="666666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666666"/>
                </a:solidFill>
                <a:latin typeface="SimSun"/>
                <a:ea typeface="SimSun"/>
                <a:cs typeface="SimSun"/>
              </a:rPr>
              <a:t>不改变前端流程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E36515-F67C-4147-B1E3-C66DEE7A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292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F3F3F"/>
                </a:solidFill>
                <a:latin typeface="SimSun"/>
                <a:ea typeface="SimSun"/>
                <a:cs typeface="SimSun"/>
              </a:defRPr>
            </a:pPr>
            <a:r>
              <a:rPr sz="1350" b="1">
                <a:solidFill>
                  <a:srgbClr val="3F3F3F"/>
                </a:solidFill>
                <a:latin typeface="SimSun"/>
                <a:ea typeface="SimSun"/>
                <a:cs typeface="SimSun"/>
              </a:rPr>
              <a:t>下一步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A11355-784A-44E7-AB45-51DD29A2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292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91919"/>
                </a:solidFill>
                <a:latin typeface="SimSun"/>
                <a:ea typeface="SimSun"/>
                <a:cs typeface="SimSun"/>
              </a:defRPr>
            </a:pPr>
            <a:r>
              <a:rPr sz="1575" b="1">
                <a:solidFill>
                  <a:srgbClr val="191919"/>
                </a:solidFill>
                <a:latin typeface="SimSun"/>
                <a:ea typeface="SimSun"/>
                <a:cs typeface="SimSun"/>
              </a:rPr>
              <a:t>补齐听测者评分，固定现场机器环境，按提交清单完成归档。</a:t>
            </a:r>
          </a:p>
        </p:txBody>
      </p:sp>
    </p:spTree>
    <p:extLst>
      <p:ext uri="{BB962C8B-B14F-4D97-AF65-F5344CB8AC3E}">
        <p14:creationId xmlns:p14="http://schemas.microsoft.com/office/powerpoint/2010/main" val="7449694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2026-08-27T15:02:05.6990000Z</dcterms:created>
  <dcterms:modified xsi:type="dcterms:W3CDTF">2026-08-27T15:02:05.6990000Z</dcterms:modified>
</coreProperties>
</file>